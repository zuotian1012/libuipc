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9788d8ebc0a4900" /><Relationship Type="http://schemas.openxmlformats.org/officeDocument/2006/relationships/extended-properties" Target="/docProps/app.xml" Id="Rd9a3d7e5ad9b48a5" /><Relationship Type="http://schemas.openxmlformats.org/officeDocument/2006/relationships/officeDocument" Target="/ppt/presentation.xml" Id="R7466b46002774d31"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708a37d171642e7"/>
  </p:sldMasterIdLst>
  <p:notesMasterIdLst>
    <p:notesMasterId xmlns:r="http://schemas.openxmlformats.org/officeDocument/2006/relationships" r:id="R5ca2539a9f3a4355"/>
  </p:notesMasterIdLst>
  <p:sldIdLst>
    <p:sldId xmlns:r="http://schemas.openxmlformats.org/officeDocument/2006/relationships" id="256" r:id="Rf2e7ef74d85a4164"/>
    <p:sldId xmlns:r="http://schemas.openxmlformats.org/officeDocument/2006/relationships" id="257" r:id="R6e9e2438f1f64742"/>
    <p:sldId xmlns:r="http://schemas.openxmlformats.org/officeDocument/2006/relationships" id="258" r:id="R7cd48975dd734f88"/>
  </p:sldIdLst>
  <p:sldSz cx="12192000" cy="6858000"/>
  <p:notesSz cx="6858000" cy="9144000"/>
  <p:embeddedFontLst>
    <p:embeddedFont>
      <p:font typeface="OpenAI Sans"/>
      <p:regular xmlns:r="http://schemas.openxmlformats.org/officeDocument/2006/relationships" r:id="R497913b517544f5a"/>
      <p:bold xmlns:r="http://schemas.openxmlformats.org/officeDocument/2006/relationships" r:id="R2750b87dc5304d7b"/>
      <p:italic xmlns:r="http://schemas.openxmlformats.org/officeDocument/2006/relationships" r:id="R1ad2dead67bd4d7d"/>
      <p:boldItalic xmlns:r="http://schemas.openxmlformats.org/officeDocument/2006/relationships" r:id="R2a67c0ecc5314fec"/>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19250e7a0ed45be" /><Relationship Type="http://schemas.openxmlformats.org/officeDocument/2006/relationships/slideMaster" Target="/ppt/slideMasters/slideMaster1.xml" Id="Rf708a37d171642e7" /><Relationship Type="http://schemas.openxmlformats.org/officeDocument/2006/relationships/notesMaster" Target="/ppt/notesMasters/notesMaster1.xml" Id="R5ca2539a9f3a4355" /><Relationship Type="http://schemas.openxmlformats.org/officeDocument/2006/relationships/presProps" Target="/ppt/presProps.xml" Id="R0332a2c9e1a446c4" /><Relationship Type="http://schemas.openxmlformats.org/officeDocument/2006/relationships/viewProps" Target="/ppt/viewProps.xml" Id="Rdc85855756314d2d" /><Relationship Type="http://schemas.openxmlformats.org/officeDocument/2006/relationships/tableStyles" Target="/ppt/tableStyles.xml" Id="Rde8449d485904b3c" /><Relationship Type="http://schemas.openxmlformats.org/officeDocument/2006/relationships/font" Target="/ppt/fonts/font.dat" Id="R497913b517544f5a" /><Relationship Type="http://schemas.openxmlformats.org/officeDocument/2006/relationships/font" Target="/ppt/fonts/font2.dat" Id="R2750b87dc5304d7b" /><Relationship Type="http://schemas.openxmlformats.org/officeDocument/2006/relationships/font" Target="/ppt/fonts/font3.dat" Id="R1ad2dead67bd4d7d" /><Relationship Type="http://schemas.openxmlformats.org/officeDocument/2006/relationships/font" Target="/ppt/fonts/font4.dat" Id="R2a67c0ecc5314fec" /><Relationship Type="http://schemas.openxmlformats.org/officeDocument/2006/relationships/slide" Target="/ppt/slides/slide1.xml" Id="Rf2e7ef74d85a4164" /><Relationship Type="http://schemas.openxmlformats.org/officeDocument/2006/relationships/slide" Target="/ppt/slides/slide2.xml" Id="R6e9e2438f1f64742" /><Relationship Type="http://schemas.openxmlformats.org/officeDocument/2006/relationships/slide" Target="/ppt/slides/slide3.xml" Id="R7cd48975dd734f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cb2599c69534c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00567a8ce14274" /><Relationship Type="http://schemas.openxmlformats.org/officeDocument/2006/relationships/notesMaster" Target="/ppt/notesMasters/notesMaster1.xml" Id="Re38c47b63e9946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dd44a417124327" /><Relationship Type="http://schemas.openxmlformats.org/officeDocument/2006/relationships/notesMaster" Target="/ppt/notesMasters/notesMaster1.xml" Id="R61fa34d04d044c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24d166a58f4a9a" /><Relationship Type="http://schemas.openxmlformats.org/officeDocument/2006/relationships/notesMaster" Target="/ppt/notesMasters/notesMaster1.xml" Id="R8cacb5f99e8c47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experiments/probe_grid16/summary.json. Three fresh processes per condition, 40 frames, median of run medians over frames 6–40. The control disables contact and omits the ground. All runs passed strict convergence and scene-specific separation checks. This is one cloth-stack family, not a general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experiments/probe_grid16/timers_l4_c1.json and experiments/churn_canonical_g16_l4.txt. The DCD total combines 40 initial and 28 additional Newton detections. Stage timer synchronization changes wall time and should not be compared directly to timer-free throughput. Canonical pair keys sort primitive vertex IDs; observations are from one scene family.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research question, not an algorithmic claim. The offline oracle is diagnostic only. Any production algorithm must conservatively guarantee collision correctness. Compare with SOS and other relevant work after the causal bound and cross-scene replication.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2f8f6b2134e4e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84251300f9142c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017a6ff08da4f1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68a12327d264d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fe1f481cf1b45b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52e7a5165d24af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c1bd2647a7f4c6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5fdc459b7a94739"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3be4fa0f9a4e0d" /><Relationship Type="http://schemas.openxmlformats.org/officeDocument/2006/relationships/slideLayout" Target="/ppt/slideLayouts/slideLayout1.xml" Id="R154f5b2a7c4742cc" /><Relationship Type="http://schemas.openxmlformats.org/officeDocument/2006/relationships/slideLayout" Target="/ppt/slideLayouts/slideLayout2.xml" Id="R24f13d3cdd2f46ea" /><Relationship Type="http://schemas.openxmlformats.org/officeDocument/2006/relationships/slideLayout" Target="/ppt/slideLayouts/slideLayout3.xml" Id="Rdee35862456f415e" /><Relationship Type="http://schemas.openxmlformats.org/officeDocument/2006/relationships/slideLayout" Target="/ppt/slideLayouts/slideLayout4.xml" Id="R6d0b9ae3cd7948cc" /><Relationship Type="http://schemas.openxmlformats.org/officeDocument/2006/relationships/slideLayout" Target="/ppt/slideLayouts/slideLayout5.xml" Id="R955f2fb3362d4de4" /><Relationship Type="http://schemas.openxmlformats.org/officeDocument/2006/relationships/slideLayout" Target="/ppt/slideLayouts/slideLayout6.xml" Id="Rddb7dea4904f450d" /><Relationship Type="http://schemas.openxmlformats.org/officeDocument/2006/relationships/slideLayout" Target="/ppt/slideLayouts/slideLayout7.xml" Id="Rf432286139934e2e" /><Relationship Type="http://schemas.openxmlformats.org/officeDocument/2006/relationships/slideLayout" Target="/ppt/slideLayouts/slideLayout8.xml" Id="R965d38b8c0ff4cf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54f5b2a7c4742cc"/>
    <p:sldLayoutId xmlns:r="http://schemas.openxmlformats.org/officeDocument/2006/relationships" id="2147483650" r:id="R24f13d3cdd2f46ea"/>
    <p:sldLayoutId xmlns:r="http://schemas.openxmlformats.org/officeDocument/2006/relationships" id="2147483651" r:id="Rdee35862456f415e"/>
    <p:sldLayoutId xmlns:r="http://schemas.openxmlformats.org/officeDocument/2006/relationships" id="2147483652" r:id="R6d0b9ae3cd7948cc"/>
    <p:sldLayoutId xmlns:r="http://schemas.openxmlformats.org/officeDocument/2006/relationships" id="2147483653" r:id="R955f2fb3362d4de4"/>
    <p:sldLayoutId xmlns:r="http://schemas.openxmlformats.org/officeDocument/2006/relationships" id="2147483654" r:id="Rddb7dea4904f450d"/>
    <p:sldLayoutId xmlns:r="http://schemas.openxmlformats.org/officeDocument/2006/relationships" id="2147483655" r:id="Rf432286139934e2e"/>
    <p:sldLayoutId xmlns:r="http://schemas.openxmlformats.org/officeDocument/2006/relationships" id="2147483656" r:id="R965d38b8c0ff4cfb"/>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1ece1780a5e4e6c" /><Relationship Type="http://schemas.openxmlformats.org/officeDocument/2006/relationships/chart" Target="/ppt/slides/charts/chart1.xml" Id="R98a2dce1621a41c6" /><Relationship Type="http://schemas.openxmlformats.org/officeDocument/2006/relationships/notesSlide" Target="/ppt/notesSlides/notesSlide1.xml" Id="R5594e8d5034c4c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25bc531227d490c" /><Relationship Type="http://schemas.openxmlformats.org/officeDocument/2006/relationships/notesSlide" Target="/ppt/notesSlides/notesSlide2.xml" Id="Reaea8579797d40f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7266deedc0d440e" /><Relationship Type="http://schemas.openxmlformats.org/officeDocument/2006/relationships/notesSlide" Target="/ppt/notesSlides/notesSlide3.xml" Id="R493897bafd024eb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a:latin typeface="Arial"/>
                <a:ea typeface="Arial"/>
                <a:cs typeface="Arial"/>
              </a:rPr>
              <a:t>Frame time (ms)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plotArea>
      <c:barChart>
        <c:barDir val="col"/>
        <c:grouping val="clustered"/>
        <c:varyColors val="0"/>
        <c:ser>
          <c:idx val="0"/>
          <c:order val="0"/>
          <c:tx>
            <c:v>Contact off</c:v>
          </c:tx>
          <c:spPr>
            <a:solidFill xmlns:a="http://schemas.openxmlformats.org/drawingml/2006/main">
              <a:srgbClr val="66BCE9"/>
            </a:solidFill>
          </c:spPr>
          <c:cat>
            <c:strRef>
              <c:f>'Chart Data'!$A$2:$A$4</c:f>
              <c:strCache>
                <c:ptCount val="3"/>
                <c:pt idx="0">
                  <c:v>1 layer</c:v>
                </c:pt>
                <c:pt idx="1">
                  <c:v>2 layers</c:v>
                </c:pt>
                <c:pt idx="2">
                  <c:v>4 layers</c:v>
                </c:pt>
              </c:strCache>
            </c:strRef>
          </c:cat>
          <c:val>
            <c:numRef>
              <c:f>'Chart Data'!$B$2:$B$4</c:f>
              <c:numCache>
                <c:formatCode>General</c:formatCode>
                <c:ptCount val="3"/>
                <c:pt idx="0">
                  <c:v>4.784</c:v>
                </c:pt>
                <c:pt idx="1">
                  <c:v>5.374</c:v>
                </c:pt>
                <c:pt idx="2">
                  <c:v>5.792</c:v>
                </c:pt>
              </c:numCache>
            </c:numRef>
          </c:val>
        </c:ser>
        <c:ser>
          <c:idx val="1"/>
          <c:order val="1"/>
          <c:tx>
            <c:v>Contact on</c:v>
          </c:tx>
          <c:spPr>
            <a:solidFill xmlns:a="http://schemas.openxmlformats.org/drawingml/2006/main">
              <a:srgbClr val="2F8EF1"/>
            </a:solidFill>
          </c:spPr>
          <c:cat>
            <c:strRef>
              <c:f>'Chart Data'!$C$2:$C$4</c:f>
              <c:strCache>
                <c:ptCount val="3"/>
                <c:pt idx="0">
                  <c:v>1 layer</c:v>
                </c:pt>
                <c:pt idx="1">
                  <c:v>2 layers</c:v>
                </c:pt>
                <c:pt idx="2">
                  <c:v>4 layers</c:v>
                </c:pt>
              </c:strCache>
            </c:strRef>
          </c:cat>
          <c:val>
            <c:numRef>
              <c:f>'Chart Data'!$D$2:$D$4</c:f>
              <c:numCache>
                <c:formatCode>General</c:formatCode>
                <c:ptCount val="3"/>
                <c:pt idx="0">
                  <c:v>5.378</c:v>
                </c:pt>
                <c:pt idx="1">
                  <c:v>14.192</c:v>
                </c:pt>
                <c:pt idx="2">
                  <c:v>20.454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max val="25"/>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majorUnit val="5"/>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0" name="Footer Placeholder 9">
            <a:extLst xmlns:a="http://schemas.openxmlformats.org/drawingml/2006/main">
              <a:ext uri="{FF2B5EF4-FFF2-40B4-BE49-F238E27FC236}">
                <a16:creationId xmlns:a16="http://schemas.microsoft.com/office/drawing/2014/main" id="{86E641B5-9209-3FE0-FF9F-6D9DEC997FE3}"/>
              </a:ext>
            </a:extLst>
          </p:cNvPr>
          <p:cNvSpPr>
            <a:spLocks xmlns:a="http://schemas.openxmlformats.org/drawingml/2006/main" noGrp="1"/>
          </p:cNvSpPr>
          <p:nvPr>
            <p:ph type="ftr" idx="3"/>
          </p:nvPr>
        </p:nvSpPr>
        <p:spPr>
          <a:xfrm xmlns:a="http://schemas.openxmlformats.org/drawingml/2006/main">
            <a:off x="634472" y="6037263"/>
            <a:ext cx="3568700" cy="241300"/>
          </a:xfrm>
        </p:spPr>
        <p:txBody>
          <a:bodyPr xmlns:a="http://schemas.openxmlformats.org/drawingml/2006/main">
            <a:noAutofit/>
          </a:bodyPr>
          <a:lstStyle xmlns:a="http://schemas.openxmlformats.org/drawingml/2006/main"/>
          <a:p xmlns:a="http://schemas.openxmlformats.org/drawingml/2006/main">
            <a:pPr>
              <a:defRPr sz="1200">
                <a:solidFill>
                  <a:srgbClr val="111111"/>
                </a:solidFill>
                <a:latin typeface="Arial"/>
                <a:ea typeface="Arial"/>
                <a:cs typeface="Arial"/>
              </a:defRPr>
            </a:pPr>
            <a:r>
              <a:rPr sz="1200">
                <a:solidFill>
                  <a:srgbClr val="111111"/>
                </a:solidFill>
                <a:latin typeface="Arial"/>
                <a:ea typeface="Arial"/>
                <a:cs typeface="Arial"/>
              </a:rPr>
              <a:t>RTX 3060 Ti  |  3 fresh runs  |  frames 6–40</a:t>
            </a:r>
            <a:endParaRPr/>
          </a:p>
        </p:txBody>
      </p:sp>
      <p:sp>
        <p:nvSpPr>
          <p:cNvPr id="4" name="Slide Number Placeholder 3">
            <a:extLst xmlns:a="http://schemas.openxmlformats.org/drawingml/2006/main">
              <a:ext uri="{FF2B5EF4-FFF2-40B4-BE49-F238E27FC236}">
                <a16:creationId xmlns:a16="http://schemas.microsoft.com/office/drawing/2014/main" id="{0E4B3D1A-6BB0-A1C9-2A5D-E2CB5C0C28D8}"/>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a:noAutofit/>
          </a:bodyPr>
          <a:lstStyle xmlns:a="http://schemas.openxmlformats.org/drawingml/2006/main"/>
          <a:p xmlns:a="http://schemas.openxmlformats.org/drawingml/2006/main">
            <a:pPr>
              <a:defRPr sz="1275">
                <a:solidFill>
                  <a:srgbClr val="111111"/>
                </a:solidFill>
                <a:latin typeface="Arial"/>
                <a:ea typeface="Arial"/>
                <a:cs typeface="Arial"/>
              </a:defRPr>
            </a:pPr>
            <a:fld id="{AD75FED6-38D0-DE9C-92C0-6E7FA635581C}" type="slidenum">
              <a:rPr sz="1275">
                <a:solidFill>
                  <a:srgbClr val="111111"/>
                </a:solidFill>
                <a:latin typeface="Arial"/>
                <a:ea typeface="Arial"/>
                <a:cs typeface="Arial"/>
              </a:rPr>
              <a:t>1</a:t>
            </a:fld>
            <a:endParaRPr/>
          </a:p>
        </p:txBody>
      </p:sp>
      <p:sp>
        <p:nvSpPr>
          <p:cNvPr id="11" name="Title 10">
            <a:extLst xmlns:a="http://schemas.openxmlformats.org/drawingml/2006/main">
              <a:ext uri="{FF2B5EF4-FFF2-40B4-BE49-F238E27FC236}">
                <a16:creationId xmlns:a16="http://schemas.microsoft.com/office/drawing/2014/main" id="{76E542D1-756D-7A52-4319-E7068676CA8C}"/>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a:noAutofit/>
          </a:bodyPr>
          <a:lstStyle xmlns:a="http://schemas.openxmlformats.org/drawingml/2006/main"/>
          <a:p xmlns:a="http://schemas.openxmlformats.org/drawingml/2006/main">
            <a:pPr>
              <a:defRPr sz="2700">
                <a:solidFill>
                  <a:srgbClr val="111111"/>
                </a:solidFill>
                <a:latin typeface="Arial"/>
                <a:ea typeface="Arial"/>
                <a:cs typeface="Arial"/>
              </a:defRPr>
            </a:pPr>
            <a:r>
              <a:rPr sz="2700">
                <a:solidFill>
                  <a:srgbClr val="111111"/>
                </a:solidFill>
                <a:latin typeface="Arial"/>
                <a:ea typeface="Arial"/>
                <a:cs typeface="Arial"/>
              </a:rPr>
              <a:t>Contact cost rises with cloth layering</a:t>
            </a:r>
          </a:p>
        </p:txBody>
      </p:sp>
      <p:sp>
        <p:nvSpPr>
          <p:cNvPr id="38" name="Content Placeholder 9">
            <a:extLst xmlns:a="http://schemas.openxmlformats.org/drawingml/2006/main">
              <a:ext uri="{FF2B5EF4-FFF2-40B4-BE49-F238E27FC236}">
                <a16:creationId xmlns:a16="http://schemas.microsoft.com/office/drawing/2014/main" id="{23EBE22F-0E57-50F2-2730-87B6AA220C40}"/>
              </a:ext>
            </a:extLst>
          </p:cNvPr>
          <p:cNvSpPr>
            <a:spLocks xmlns:a="http://schemas.openxmlformats.org/drawingml/2006/main" noGrp="1"/>
          </p:cNvSpPr>
          <p:nvPr/>
        </p:nvSpPr>
        <p:spPr>
          <a:xfrm xmlns:a="http://schemas.openxmlformats.org/drawingml/2006/main">
            <a:off x="6366176" y="4072340"/>
            <a:ext cx="2133315" cy="903750"/>
          </a:xfrm>
          <a:prstGeom xmlns:a="http://schemas.openxmlformats.org/drawingml/2006/main" prst="rect">
            <a:avLst/>
          </a:prstGeom>
        </p:spPr>
        <p:txBody>
          <a:bodyPr xmlns:a="http://schemas.openxmlformats.org/drawingml/2006/main" vert="horz" lIns="0" tIns="0" rIns="0" bIns="0" anchor="b">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2540" marR="0" lvl="0" indent="0" algn="l" defTabSz="914400">
              <a:lnSpc>
                <a:spcPct val="110000"/>
              </a:lnSpc>
              <a:spcBef>
                <a:spcPts val="0"/>
              </a:spcBef>
              <a:spcAft>
                <a:spcPts val="0"/>
              </a:spcAft>
              <a:buClr>
                <a:prstClr val="black"/>
              </a:buClr>
              <a:buSzPts val="1400"/>
              <a:buNone/>
              <a:defRPr sz="4050">
                <a:solidFill>
                  <a:srgbClr val="111111"/>
                </a:solidFill>
                <a:latin typeface="Arial"/>
                <a:ea typeface="Arial"/>
                <a:cs typeface="Arial"/>
              </a:defRPr>
            </a:pPr>
            <a:r>
              <a:rPr sz="4050" u="none" cap="none" spc="0">
                <a:ln>
                  <a:noFill/>
                </a:ln>
                <a:solidFill>
                  <a:srgbClr val="111111"/>
                </a:solidFill>
                <a:latin typeface="Arial"/>
                <a:ea typeface="Arial"/>
                <a:cs typeface="Arial"/>
              </a:rPr>
              <a:t>3.53×</a:t>
            </a:r>
            <a:endParaRPr sz="5000">
              <a:latin typeface="Helvetica Neue"/>
              <a:ea typeface="Helvetica Neue"/>
              <a:cs typeface="Helvetica Neue"/>
            </a:endParaRPr>
          </a:p>
        </p:txBody>
      </p:sp>
      <p:sp>
        <p:nvSpPr>
          <p:cNvPr id="39" name="Content Placeholder 15">
            <a:extLst xmlns:a="http://schemas.openxmlformats.org/drawingml/2006/main">
              <a:ext uri="{FF2B5EF4-FFF2-40B4-BE49-F238E27FC236}">
                <a16:creationId xmlns:a16="http://schemas.microsoft.com/office/drawing/2014/main" id="{321A36F2-8209-5AA9-0D95-01C3D5856CA8}"/>
              </a:ext>
            </a:extLst>
          </p:cNvPr>
          <p:cNvSpPr>
            <a:spLocks xmlns:a="http://schemas.openxmlformats.org/drawingml/2006/main" noGrp="1"/>
          </p:cNvSpPr>
          <p:nvPr/>
        </p:nvSpPr>
        <p:spPr>
          <a:xfrm xmlns:a="http://schemas.openxmlformats.org/drawingml/2006/main">
            <a:off x="6432794" y="5068235"/>
            <a:ext cx="2066698" cy="61595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defRPr sz="1650">
                <a:solidFill>
                  <a:srgbClr val="111111"/>
                </a:solidFill>
                <a:latin typeface="Arial"/>
                <a:ea typeface="Arial"/>
                <a:cs typeface="Arial"/>
              </a:defRPr>
            </a:pPr>
            <a:r>
              <a:rPr sz="1650">
                <a:solidFill>
                  <a:srgbClr val="111111"/>
                </a:solidFill>
                <a:latin typeface="Arial"/>
                <a:ea typeface="Arial"/>
                <a:cs typeface="Arial"/>
              </a:rPr>
              <a:t>frame time versus the same-size control</a:t>
            </a:r>
            <a:endParaRPr sz="1400">
              <a:latin typeface="Helvetica Neue"/>
              <a:ea typeface="Helvetica Neue"/>
              <a:cs typeface="Helvetica Neue"/>
            </a:endParaRPr>
          </a:p>
        </p:txBody>
      </p:sp>
      <p:sp>
        <p:nvSpPr>
          <p:cNvPr id="41" name="Content Placeholder 9">
            <a:extLst xmlns:a="http://schemas.openxmlformats.org/drawingml/2006/main">
              <a:ext uri="{FF2B5EF4-FFF2-40B4-BE49-F238E27FC236}">
                <a16:creationId xmlns:a16="http://schemas.microsoft.com/office/drawing/2014/main" id="{D26AD9AD-13F4-E1DA-D400-C93C8877BBBD}"/>
              </a:ext>
            </a:extLst>
          </p:cNvPr>
          <p:cNvSpPr>
            <a:spLocks xmlns:a="http://schemas.openxmlformats.org/drawingml/2006/main" noGrp="1"/>
          </p:cNvSpPr>
          <p:nvPr/>
        </p:nvSpPr>
        <p:spPr>
          <a:xfrm xmlns:a="http://schemas.openxmlformats.org/drawingml/2006/main">
            <a:off x="9318381" y="4072340"/>
            <a:ext cx="2133315" cy="903750"/>
          </a:xfrm>
          <a:prstGeom xmlns:a="http://schemas.openxmlformats.org/drawingml/2006/main" prst="rect">
            <a:avLst/>
          </a:prstGeom>
        </p:spPr>
        <p:txBody>
          <a:bodyPr xmlns:a="http://schemas.openxmlformats.org/drawingml/2006/main" vert="horz" lIns="0" tIns="0" rIns="0" bIns="0" anchor="b">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2540" marR="0" lvl="0" indent="0" algn="l" defTabSz="914400">
              <a:lnSpc>
                <a:spcPct val="110000"/>
              </a:lnSpc>
              <a:spcBef>
                <a:spcPts val="0"/>
              </a:spcBef>
              <a:spcAft>
                <a:spcPts val="0"/>
              </a:spcAft>
              <a:buClr>
                <a:prstClr val="black"/>
              </a:buClr>
              <a:buSzPts val="1400"/>
              <a:buNone/>
              <a:defRPr sz="4050">
                <a:solidFill>
                  <a:srgbClr val="111111"/>
                </a:solidFill>
                <a:latin typeface="Arial"/>
                <a:ea typeface="Arial"/>
                <a:cs typeface="Arial"/>
              </a:defRPr>
            </a:pPr>
            <a:r>
              <a:rPr sz="4050" u="none" cap="none" spc="0">
                <a:ln>
                  <a:noFill/>
                </a:ln>
                <a:solidFill>
                  <a:srgbClr val="111111"/>
                </a:solidFill>
                <a:latin typeface="Arial"/>
                <a:ea typeface="Arial"/>
                <a:cs typeface="Arial"/>
              </a:rPr>
              <a:t>36/36</a:t>
            </a:r>
            <a:endParaRPr sz="5000">
              <a:latin typeface="Helvetica Neue"/>
              <a:ea typeface="Helvetica Neue"/>
              <a:cs typeface="Helvetica Neue"/>
            </a:endParaRPr>
          </a:p>
        </p:txBody>
      </p:sp>
      <p:sp>
        <p:nvSpPr>
          <p:cNvPr id="42" name="Content Placeholder 15">
            <a:extLst xmlns:a="http://schemas.openxmlformats.org/drawingml/2006/main">
              <a:ext uri="{FF2B5EF4-FFF2-40B4-BE49-F238E27FC236}">
                <a16:creationId xmlns:a16="http://schemas.microsoft.com/office/drawing/2014/main" id="{D80012E4-4A17-58AB-7C13-D2FE52FDDB3B}"/>
              </a:ext>
            </a:extLst>
          </p:cNvPr>
          <p:cNvSpPr>
            <a:spLocks xmlns:a="http://schemas.openxmlformats.org/drawingml/2006/main" noGrp="1"/>
          </p:cNvSpPr>
          <p:nvPr/>
        </p:nvSpPr>
        <p:spPr>
          <a:xfrm xmlns:a="http://schemas.openxmlformats.org/drawingml/2006/main">
            <a:off x="9384999" y="5068235"/>
            <a:ext cx="2066698" cy="61595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defRPr sz="1650">
                <a:solidFill>
                  <a:srgbClr val="111111"/>
                </a:solidFill>
                <a:latin typeface="Arial"/>
                <a:ea typeface="Arial"/>
                <a:cs typeface="Arial"/>
              </a:defRPr>
            </a:pPr>
            <a:r>
              <a:rPr sz="1650">
                <a:solidFill>
                  <a:srgbClr val="111111"/>
                </a:solidFill>
                <a:latin typeface="Arial"/>
                <a:ea typeface="Arial"/>
                <a:cs typeface="Arial"/>
              </a:rPr>
              <a:t>runs completed and converged</a:t>
            </a:r>
            <a:endParaRPr sz="1400">
              <a:latin typeface="Helvetica Neue"/>
              <a:ea typeface="Helvetica Neue"/>
              <a:cs typeface="Helvetica Neue"/>
            </a:endParaRPr>
          </a:p>
        </p:txBody>
      </p:sp>
      <p:sp>
        <p:nvSpPr>
          <p:cNvPr id="2" name="Rounded Rectangle 1">
            <a:extLst xmlns:a="http://schemas.openxmlformats.org/drawingml/2006/main">
              <a:ext uri="{FF2B5EF4-FFF2-40B4-BE49-F238E27FC236}">
                <a16:creationId xmlns:a16="http://schemas.microsoft.com/office/drawing/2014/main" id="{B9E294EF-928B-660C-B2B3-E78F4ECC5452}"/>
              </a:ext>
            </a:extLst>
          </p:cNvPr>
          <p:cNvSpPr>
            <a:spLocks xmlns:a="http://schemas.openxmlformats.org/drawingml/2006/main" noGrp="1"/>
          </p:cNvSpPr>
          <p:nvPr/>
        </p:nvSpPr>
        <p:spPr>
          <a:xfrm xmlns:a="http://schemas.openxmlformats.org/drawingml/2006/main">
            <a:off x="393700" y="1041400"/>
            <a:ext cx="5526315" cy="5435072"/>
          </a:xfrm>
          <a:prstGeom xmlns:a="http://schemas.openxmlformats.org/drawingml/2006/main" prst="roundRect">
            <a:avLst>
              <a:gd name="adj" fmla="val 0"/>
            </a:avLst>
          </a:prstGeom>
          <a:noFill xmlns:a="http://schemas.openxmlformats.org/drawingml/2006/main"/>
          <a:ln xmlns:a="http://schemas.openxmlformats.org/drawingml/2006/main" w="12700">
            <a:solidFill>
              <a:schemeClr val="tx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Content Placeholder 1">
            <a:extLst xmlns:a="http://schemas.openxmlformats.org/drawingml/2006/main">
              <a:ext uri="{FF2B5EF4-FFF2-40B4-BE49-F238E27FC236}">
                <a16:creationId xmlns:a16="http://schemas.microsoft.com/office/drawing/2014/main" id="{BE261F0F-2359-53ED-9F86-805EC1A3492D}"/>
              </a:ext>
            </a:extLst>
          </p:cNvPr>
          <p:cNvSpPr>
            <a:spLocks xmlns:a="http://schemas.openxmlformats.org/drawingml/2006/main" noGrp="1"/>
          </p:cNvSpPr>
          <p:nvPr/>
        </p:nvSpPr>
        <p:spPr>
          <a:xfrm xmlns:a="http://schemas.openxmlformats.org/drawingml/2006/main">
            <a:off x="6432794" y="1709230"/>
            <a:ext cx="5331640" cy="1614066"/>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defRPr sz="1950">
                <a:solidFill>
                  <a:srgbClr val="111111"/>
                </a:solidFill>
                <a:latin typeface="Arial"/>
                <a:ea typeface="Arial"/>
                <a:cs typeface="Arial"/>
              </a:defRPr>
            </a:pPr>
            <a:r>
              <a:rPr sz="1950">
                <a:solidFill>
                  <a:srgbClr val="111111"/>
                </a:solidFill>
                <a:latin typeface="Arial"/>
                <a:ea typeface="Arial"/>
                <a:cs typeface="Arial"/>
              </a:rPr>
              <a:t>Four layers, 16×16 grid</a:t>
            </a:r>
          </a:p>
          <a:p xmlns:a="http://schemas.openxmlformats.org/drawingml/2006/main">
            <a:pPr marL="0" indent="0">
              <a:lnSpc>
                <a:spcPct val="114000"/>
              </a:lnSpc>
              <a:spcBef>
                <a:spcPts val="0"/>
              </a:spcBef>
              <a:spcAft>
                <a:spcPts val="800"/>
              </a:spcAft>
              <a:buFont typeface="Arial"/>
              <a:buNone/>
              <a:defRPr sz="1950">
                <a:solidFill>
                  <a:srgbClr val="111111"/>
                </a:solidFill>
                <a:latin typeface="Arial"/>
                <a:ea typeface="Arial"/>
                <a:cs typeface="Arial"/>
              </a:defRPr>
            </a:pPr>
            <a:r>
              <a:rPr sz="1950">
                <a:solidFill>
                  <a:srgbClr val="111111"/>
                </a:solidFill>
                <a:latin typeface="Arial"/>
                <a:ea typeface="Arial"/>
                <a:cs typeface="Arial"/>
              </a:rPr>
              <a:t>20.45 ms with contact</a:t>
            </a:r>
          </a:p>
          <a:p xmlns:a="http://schemas.openxmlformats.org/drawingml/2006/main">
            <a:pPr marL="0" indent="0">
              <a:lnSpc>
                <a:spcPct val="114000"/>
              </a:lnSpc>
              <a:spcBef>
                <a:spcPts val="0"/>
              </a:spcBef>
              <a:spcAft>
                <a:spcPts val="800"/>
              </a:spcAft>
              <a:buFont typeface="Arial"/>
              <a:buNone/>
              <a:defRPr sz="1950">
                <a:solidFill>
                  <a:srgbClr val="111111"/>
                </a:solidFill>
                <a:latin typeface="Arial"/>
                <a:ea typeface="Arial"/>
                <a:cs typeface="Arial"/>
              </a:defRPr>
            </a:pPr>
            <a:r>
              <a:rPr sz="1950">
                <a:solidFill>
                  <a:srgbClr val="111111"/>
                </a:solidFill>
                <a:latin typeface="Arial"/>
                <a:ea typeface="Arial"/>
                <a:cs typeface="Arial"/>
              </a:rPr>
              <a:t>5.79 ms without contact</a:t>
            </a:r>
          </a:p>
          <a:p xmlns:a="http://schemas.openxmlformats.org/drawingml/2006/main">
            <a:pPr marL="0" indent="0">
              <a:lnSpc>
                <a:spcPct val="114000"/>
              </a:lnSpc>
              <a:spcBef>
                <a:spcPts val="0"/>
              </a:spcBef>
              <a:spcAft>
                <a:spcPts val="800"/>
              </a:spcAft>
              <a:buFont typeface="Arial"/>
              <a:buNone/>
            </a:pPr>
            <a:r>
              <a:rPr sz="1600">
                <a:solidFill>
                  <a:prstClr val="black"/>
                </a:solidFill>
                <a:latin typeface="Helvetica Neue"/>
                <a:ea typeface="Helvetica Neue"/>
                <a:cs typeface="Helvetica Neue"/>
              </a:rPr>
              <a:t/>
            </a:r>
          </a:p>
          <a:p xmlns:a="http://schemas.openxmlformats.org/drawingml/2006/main">
            <a:pPr marL="0" indent="0">
              <a:lnSpc>
                <a:spcPct val="114000"/>
              </a:lnSpc>
              <a:spcBef>
                <a:spcPts val="0"/>
              </a:spcBef>
              <a:spcAft>
                <a:spcPts val="800"/>
              </a:spcAft>
              <a:buFont typeface="Arial"/>
              <a:buNone/>
              <a:defRPr sz="1950">
                <a:solidFill>
                  <a:srgbClr val="111111"/>
                </a:solidFill>
                <a:latin typeface="Arial"/>
                <a:ea typeface="Arial"/>
                <a:cs typeface="Arial"/>
              </a:defRPr>
            </a:pPr>
            <a:r>
              <a:rPr sz="1950">
                <a:solidFill>
                  <a:srgbClr val="111111"/>
                </a:solidFill>
                <a:latin typeface="Arial"/>
                <a:ea typeface="Arial"/>
                <a:cs typeface="Arial"/>
              </a:rPr>
              <a:t>Preliminary scene-family result.</a:t>
            </a:r>
          </a:p>
        </p:txBody>
      </p:sp>
      <p:graphicFrame>
        <p:nvGraphicFramePr>
          <p:cNvPr id="53" name="Chart"/>
          <p:cNvGraphicFramePr/>
          <p:nvPr/>
        </p:nvGraphicFramePr>
        <p:xfrm>
          <a:off xmlns:a="http://schemas.openxmlformats.org/drawingml/2006/main" x="634472" y="1322449"/>
          <a:ext xmlns:a="http://schemas.openxmlformats.org/drawingml/2006/main" cx="5029728" cy="4784599"/>
        </p:xfrm>
        <a:graphic xmlns:a="http://schemas.openxmlformats.org/drawingml/2006/main">
          <a:graphicData uri="http://schemas.openxmlformats.org/drawingml/2006/chart">
            <c:chart xmlns:r="http://schemas.openxmlformats.org/officeDocument/2006/relationships" xmlns:c="http://schemas.openxmlformats.org/drawingml/2006/chart" r:id="R98a2dce1621a41c6"/>
          </a:graphicData>
        </a:graphic>
      </p:graphicFrame>
    </p:spTree>
    <p:extLst>
      <p:ext uri="{BB962C8B-B14F-4D97-AF65-F5344CB8AC3E}">
        <p14:creationId xmlns:p14="http://schemas.microsoft.com/office/powerpoint/2010/main" val="112643305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34" name="Google Shape;534;p58">
            <a:extLst xmlns:a="http://schemas.openxmlformats.org/drawingml/2006/main">
              <a:ext uri="{FF2B5EF4-FFF2-40B4-BE49-F238E27FC236}">
                <a16:creationId xmlns:a16="http://schemas.microsoft.com/office/drawing/2014/main" id="{C936F667-D10C-5292-AA3B-96BE2CAC84D9}"/>
              </a:ext>
            </a:extLst>
          </p:cNvPr>
          <p:cNvSpPr>
            <a:spLocks xmlns:a="http://schemas.openxmlformats.org/drawingml/2006/main" noGrp="1"/>
          </p:cNvSpPr>
          <p:nvPr>
            <p:ph idx="1"/>
          </p:nvPr>
        </p:nvSpPr>
        <p:spPr>
          <a:xfrm xmlns:a="http://schemas.openxmlformats.org/drawingml/2006/main">
            <a:off x="393700" y="1838848"/>
            <a:ext cx="5533190" cy="4155552"/>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800"/>
              </a:spcAft>
              <a:buNone/>
              <a:defRPr sz="1875">
                <a:solidFill>
                  <a:srgbClr val="111111"/>
                </a:solidFill>
                <a:latin typeface="Arial"/>
                <a:ea typeface="Arial"/>
                <a:cs typeface="Arial"/>
              </a:defRPr>
            </a:pPr>
            <a:r>
              <a:rPr sz="1875">
                <a:solidFill>
                  <a:srgbClr val="111111"/>
                </a:solidFill>
                <a:latin typeface="Arial"/>
                <a:ea typeface="Arial"/>
                <a:cs typeface="Arial"/>
              </a:rPr>
              <a:t>Synchronized stage timing</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
            </a:r>
          </a:p>
          <a:p xmlns:a="http://schemas.openxmlformats.org/drawingml/2006/main">
            <a:pPr marL="0" indent="0">
              <a:lnSpc>
                <a:spcPct val="114000"/>
              </a:lnSpc>
              <a:spcBef>
                <a:spcPts val="0"/>
              </a:spcBef>
              <a:spcAft>
                <a:spcPts val="800"/>
              </a:spcAft>
              <a:buNone/>
              <a:defRPr sz="1875">
                <a:solidFill>
                  <a:srgbClr val="111111"/>
                </a:solidFill>
                <a:latin typeface="Arial"/>
                <a:ea typeface="Arial"/>
                <a:cs typeface="Arial"/>
              </a:defRPr>
            </a:pPr>
            <a:r>
              <a:rPr sz="1875">
                <a:solidFill>
                  <a:srgbClr val="111111"/>
                </a:solidFill>
                <a:latin typeface="Arial"/>
                <a:ea typeface="Arial"/>
                <a:cs typeface="Arial"/>
              </a:rPr>
              <a:t>DCD detection: 205.5 ms</a:t>
            </a:r>
          </a:p>
          <a:p xmlns:a="http://schemas.openxmlformats.org/drawingml/2006/main">
            <a:pPr marL="0" indent="0">
              <a:lnSpc>
                <a:spcPct val="114000"/>
              </a:lnSpc>
              <a:spcBef>
                <a:spcPts val="0"/>
              </a:spcBef>
              <a:spcAft>
                <a:spcPts val="800"/>
              </a:spcAft>
              <a:buNone/>
              <a:defRPr sz="1875">
                <a:solidFill>
                  <a:srgbClr val="111111"/>
                </a:solidFill>
                <a:latin typeface="Arial"/>
                <a:ea typeface="Arial"/>
                <a:cs typeface="Arial"/>
              </a:defRPr>
            </a:pPr>
            <a:r>
              <a:rPr sz="1875">
                <a:solidFill>
                  <a:srgbClr val="111111"/>
                </a:solidFill>
                <a:latin typeface="Arial"/>
                <a:ea typeface="Arial"/>
                <a:cs typeface="Arial"/>
              </a:rPr>
              <a:t>Trajectory candidates: 121.6 ms</a:t>
            </a:r>
          </a:p>
          <a:p xmlns:a="http://schemas.openxmlformats.org/drawingml/2006/main">
            <a:pPr marL="0" indent="0">
              <a:lnSpc>
                <a:spcPct val="114000"/>
              </a:lnSpc>
              <a:spcBef>
                <a:spcPts val="0"/>
              </a:spcBef>
              <a:spcAft>
                <a:spcPts val="800"/>
              </a:spcAft>
              <a:buNone/>
              <a:defRPr sz="1875">
                <a:solidFill>
                  <a:srgbClr val="111111"/>
                </a:solidFill>
                <a:latin typeface="Arial"/>
                <a:ea typeface="Arial"/>
                <a:cs typeface="Arial"/>
              </a:defRPr>
            </a:pPr>
            <a:r>
              <a:rPr sz="1875">
                <a:solidFill>
                  <a:srgbClr val="111111"/>
                </a:solidFill>
                <a:latin typeface="Arial"/>
                <a:ea typeface="Arial"/>
                <a:cs typeface="Arial"/>
              </a:rPr>
              <a:t>Pipeline: 971.1 ms</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
            </a:r>
          </a:p>
          <a:p xmlns:a="http://schemas.openxmlformats.org/drawingml/2006/main">
            <a:pPr marL="0" indent="0">
              <a:lnSpc>
                <a:spcPct val="114000"/>
              </a:lnSpc>
              <a:spcBef>
                <a:spcPts val="0"/>
              </a:spcBef>
              <a:spcAft>
                <a:spcPts val="800"/>
              </a:spcAft>
              <a:buNone/>
              <a:defRPr sz="1875">
                <a:solidFill>
                  <a:srgbClr val="111111"/>
                </a:solidFill>
                <a:latin typeface="Arial"/>
                <a:ea typeface="Arial"/>
                <a:cs typeface="Arial"/>
              </a:defRPr>
            </a:pPr>
            <a:r>
              <a:rPr sz="1875">
                <a:solidFill>
                  <a:srgbClr val="111111"/>
                </a:solidFill>
                <a:latin typeface="Arial"/>
                <a:ea typeface="Arial"/>
                <a:cs typeface="Arial"/>
              </a:rPr>
              <a:t>Together: 33.7% of diagnostic pipeline time over 40 frames.</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
            </a:r>
          </a:p>
          <a:p xmlns:a="http://schemas.openxmlformats.org/drawingml/2006/main">
            <a:pPr marL="0" indent="0">
              <a:lnSpc>
                <a:spcPct val="114000"/>
              </a:lnSpc>
              <a:spcBef>
                <a:spcPts val="0"/>
              </a:spcBef>
              <a:spcAft>
                <a:spcPts val="800"/>
              </a:spcAft>
              <a:buNone/>
              <a:defRPr sz="1875">
                <a:solidFill>
                  <a:srgbClr val="111111"/>
                </a:solidFill>
                <a:latin typeface="Arial"/>
                <a:ea typeface="Arial"/>
                <a:cs typeface="Arial"/>
              </a:defRPr>
            </a:pPr>
            <a:r>
              <a:rPr sz="1875">
                <a:solidFill>
                  <a:srgbClr val="111111"/>
                </a:solidFill>
                <a:latin typeface="Arial"/>
                <a:ea typeface="Arial"/>
                <a:cs typeface="Arial"/>
              </a:rPr>
              <a:t>Timers synchronize GPU work.</a:t>
            </a:r>
          </a:p>
        </p:txBody>
      </p:sp>
      <p:sp>
        <p:nvSpPr>
          <p:cNvPr id="6" name="Footer Placeholder 5">
            <a:extLst xmlns:a="http://schemas.openxmlformats.org/drawingml/2006/main">
              <a:ext uri="{FF2B5EF4-FFF2-40B4-BE49-F238E27FC236}">
                <a16:creationId xmlns:a16="http://schemas.microsoft.com/office/drawing/2014/main" id="{43787D66-ADFA-FEAC-9070-B9C216CEFEAB}"/>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noAutofit/>
          </a:bodyPr>
          <a:lstStyle xmlns:a="http://schemas.openxmlformats.org/drawingml/2006/main"/>
          <a:p xmlns:a="http://schemas.openxmlformats.org/drawingml/2006/main">
            <a:pPr>
              <a:defRPr sz="1200">
                <a:solidFill>
                  <a:srgbClr val="111111"/>
                </a:solidFill>
                <a:latin typeface="Arial"/>
                <a:ea typeface="Arial"/>
                <a:cs typeface="Arial"/>
              </a:defRPr>
            </a:pPr>
            <a:r>
              <a:rPr sz="1200">
                <a:solidFill>
                  <a:srgbClr val="111111"/>
                </a:solidFill>
                <a:latin typeface="Arial"/>
                <a:ea typeface="Arial"/>
                <a:cs typeface="Arial"/>
              </a:rPr>
              <a:t>Separate diagnostic runs</a:t>
            </a:r>
            <a:endParaRPr/>
          </a:p>
        </p:txBody>
      </p:sp>
      <p:sp>
        <p:nvSpPr>
          <p:cNvPr id="532" name="Google Shape;532;p58">
            <a:extLst xmlns:a="http://schemas.openxmlformats.org/drawingml/2006/main">
              <a:ext uri="{FF2B5EF4-FFF2-40B4-BE49-F238E27FC236}">
                <a16:creationId xmlns:a16="http://schemas.microsoft.com/office/drawing/2014/main" id="{C5959EFF-52C4-5B31-3FCE-BFF3A75CF3CF}"/>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a:defRPr sz="1275">
                <a:solidFill>
                  <a:srgbClr val="111111"/>
                </a:solidFill>
                <a:latin typeface="Arial"/>
                <a:ea typeface="Arial"/>
                <a:cs typeface="Arial"/>
              </a:defRPr>
            </a:pPr>
            <a:fld id="{E2598689-54C9-18A7-3A19-ED76AA08988F}" type="slidenum">
              <a:rPr sz="1275">
                <a:solidFill>
                  <a:srgbClr val="111111"/>
                </a:solidFill>
                <a:latin typeface="Arial"/>
                <a:ea typeface="Arial"/>
                <a:cs typeface="Arial"/>
              </a:rPr>
              <a:t>2</a:t>
            </a:fld>
            <a:endParaRPr/>
          </a:p>
        </p:txBody>
      </p:sp>
      <p:sp>
        <p:nvSpPr>
          <p:cNvPr id="533" name="Google Shape;533;p58">
            <a:extLst xmlns:a="http://schemas.openxmlformats.org/drawingml/2006/main">
              <a:ext uri="{FF2B5EF4-FFF2-40B4-BE49-F238E27FC236}">
                <a16:creationId xmlns:a16="http://schemas.microsoft.com/office/drawing/2014/main" id="{469ED97F-6CDE-1EE8-6602-FE9CC4D732BE}"/>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defRPr sz="2700">
                <a:solidFill>
                  <a:srgbClr val="111111"/>
                </a:solidFill>
                <a:latin typeface="Arial"/>
                <a:ea typeface="Arial"/>
                <a:cs typeface="Arial"/>
              </a:defRPr>
            </a:pPr>
            <a:r>
              <a:rPr sz="2700">
                <a:solidFill>
                  <a:srgbClr val="111111"/>
                </a:solidFill>
                <a:latin typeface="Arial"/>
                <a:ea typeface="Arial"/>
                <a:cs typeface="Arial"/>
              </a:rPr>
              <a:t>Collision search remains material</a:t>
            </a:r>
          </a:p>
        </p:txBody>
      </p:sp>
      <p:sp>
        <p:nvSpPr>
          <p:cNvPr id="2" name="Google Shape;534;p58">
            <a:extLst xmlns:a="http://schemas.openxmlformats.org/drawingml/2006/main">
              <a:ext uri="{FF2B5EF4-FFF2-40B4-BE49-F238E27FC236}">
                <a16:creationId xmlns:a16="http://schemas.microsoft.com/office/drawing/2014/main" id="{A4A94F3C-B1B2-7289-7098-7C66C8A291D6}"/>
              </a:ext>
            </a:extLst>
          </p:cNvPr>
          <p:cNvSpPr>
            <a:spLocks xmlns:a="http://schemas.openxmlformats.org/drawingml/2006/main" noGrp="1"/>
          </p:cNvSpPr>
          <p:nvPr/>
        </p:nvSpPr>
        <p:spPr>
          <a:xfrm xmlns:a="http://schemas.openxmlformats.org/drawingml/2006/main">
            <a:off x="6265111" y="2192694"/>
            <a:ext cx="5537200" cy="3801706"/>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defRPr sz="1875">
                <a:solidFill>
                  <a:srgbClr val="111111"/>
                </a:solidFill>
                <a:latin typeface="Arial"/>
                <a:ea typeface="Arial"/>
                <a:cs typeface="Arial"/>
              </a:defRPr>
            </a:pPr>
            <a:r>
              <a:rPr sz="1875">
                <a:solidFill>
                  <a:srgbClr val="111111"/>
                </a:solidFill>
                <a:latin typeface="Arial"/>
                <a:ea typeface="Arial"/>
                <a:cs typeface="Arial"/>
              </a:rPr>
              <a:t>Pair-set dynamics</a:t>
            </a:r>
          </a:p>
          <a:p xmlns:a="http://schemas.openxmlformats.org/drawingml/2006/main">
            <a:pPr marL="0" indent="0">
              <a:lnSpc>
                <a:spcPct val="114000"/>
              </a:lnSpc>
              <a:spcBef>
                <a:spcPts val="0"/>
              </a:spcBef>
              <a:spcAft>
                <a:spcPts val="800"/>
              </a:spcAft>
              <a:buFont typeface="Arial"/>
              <a:buNone/>
            </a:pPr>
            <a:r>
              <a:rPr sz="1400">
                <a:latin typeface="Helvetica Neue"/>
                <a:ea typeface="Helvetica Neue"/>
                <a:cs typeface="Helvetica Neue"/>
              </a:rPr>
              <a:t/>
            </a:r>
          </a:p>
          <a:p xmlns:a="http://schemas.openxmlformats.org/drawingml/2006/main">
            <a:pPr marL="0" indent="0">
              <a:lnSpc>
                <a:spcPct val="114000"/>
              </a:lnSpc>
              <a:spcBef>
                <a:spcPts val="0"/>
              </a:spcBef>
              <a:spcAft>
                <a:spcPts val="800"/>
              </a:spcAft>
              <a:buFont typeface="Arial"/>
              <a:buNone/>
              <a:defRPr sz="1875">
                <a:solidFill>
                  <a:srgbClr val="111111"/>
                </a:solidFill>
                <a:latin typeface="Arial"/>
                <a:ea typeface="Arial"/>
                <a:cs typeface="Arial"/>
              </a:defRPr>
            </a:pPr>
            <a:r>
              <a:rPr sz="1875">
                <a:solidFill>
                  <a:srgbClr val="111111"/>
                </a:solidFill>
                <a:latin typeface="Arial"/>
                <a:ea typeface="Arial"/>
                <a:cs typeface="Arial"/>
              </a:rPr>
              <a:t>During contact formation: 21.5% median new pairs between Newton steps (13 nonempty comparisons).</a:t>
            </a:r>
          </a:p>
          <a:p xmlns:a="http://schemas.openxmlformats.org/drawingml/2006/main">
            <a:pPr marL="0" indent="0">
              <a:lnSpc>
                <a:spcPct val="114000"/>
              </a:lnSpc>
              <a:spcBef>
                <a:spcPts val="0"/>
              </a:spcBef>
              <a:spcAft>
                <a:spcPts val="800"/>
              </a:spcAft>
              <a:buFont typeface="Arial"/>
              <a:buNone/>
            </a:pPr>
            <a:r>
              <a:rPr sz="1400">
                <a:latin typeface="Helvetica Neue"/>
                <a:ea typeface="Helvetica Neue"/>
                <a:cs typeface="Helvetica Neue"/>
              </a:rPr>
              <a:t/>
            </a:r>
          </a:p>
          <a:p xmlns:a="http://schemas.openxmlformats.org/drawingml/2006/main">
            <a:pPr marL="0" indent="0">
              <a:lnSpc>
                <a:spcPct val="114000"/>
              </a:lnSpc>
              <a:spcBef>
                <a:spcPts val="0"/>
              </a:spcBef>
              <a:spcAft>
                <a:spcPts val="800"/>
              </a:spcAft>
              <a:buFont typeface="Arial"/>
              <a:buNone/>
              <a:defRPr sz="1875">
                <a:solidFill>
                  <a:srgbClr val="111111"/>
                </a:solidFill>
                <a:latin typeface="Arial"/>
                <a:ea typeface="Arial"/>
                <a:cs typeface="Arial"/>
              </a:defRPr>
            </a:pPr>
            <a:r>
              <a:rPr sz="1875">
                <a:solidFill>
                  <a:srgbClr val="111111"/>
                </a:solidFill>
                <a:latin typeface="Arial"/>
                <a:ea typeface="Arial"/>
                <a:cs typeface="Arial"/>
              </a:rPr>
              <a:t>Settled frames 33–40: 0.078% median new pairs across frames, with about 19,400 active pairs.</a:t>
            </a:r>
          </a:p>
          <a:p xmlns:a="http://schemas.openxmlformats.org/drawingml/2006/main">
            <a:pPr marL="0" indent="0">
              <a:lnSpc>
                <a:spcPct val="114000"/>
              </a:lnSpc>
              <a:spcBef>
                <a:spcPts val="0"/>
              </a:spcBef>
              <a:spcAft>
                <a:spcPts val="800"/>
              </a:spcAft>
              <a:buFont typeface="Arial"/>
              <a:buNone/>
            </a:pPr>
            <a:r>
              <a:rPr sz="1400">
                <a:latin typeface="Helvetica Neue"/>
                <a:ea typeface="Helvetica Neue"/>
                <a:cs typeface="Helvetica Neue"/>
              </a:rPr>
              <a:t/>
            </a:r>
          </a:p>
          <a:p xmlns:a="http://schemas.openxmlformats.org/drawingml/2006/main">
            <a:pPr marL="0" indent="0">
              <a:lnSpc>
                <a:spcPct val="114000"/>
              </a:lnSpc>
              <a:spcBef>
                <a:spcPts val="0"/>
              </a:spcBef>
              <a:spcAft>
                <a:spcPts val="800"/>
              </a:spcAft>
              <a:buFont typeface="Arial"/>
              <a:buNone/>
              <a:defRPr sz="1875">
                <a:solidFill>
                  <a:srgbClr val="111111"/>
                </a:solidFill>
                <a:latin typeface="Arial"/>
                <a:ea typeface="Arial"/>
                <a:cs typeface="Arial"/>
              </a:defRPr>
            </a:pPr>
            <a:r>
              <a:rPr sz="1875">
                <a:solidFill>
                  <a:srgbClr val="111111"/>
                </a:solidFill>
                <a:latin typeface="Arial"/>
                <a:ea typeface="Arial"/>
                <a:cs typeface="Arial"/>
              </a:rPr>
              <a:t>No safe-skip result yet.</a:t>
            </a:r>
          </a:p>
        </p:txBody>
      </p:sp>
    </p:spTree>
    <p:extLst>
      <p:ext uri="{BB962C8B-B14F-4D97-AF65-F5344CB8AC3E}">
        <p14:creationId xmlns:p14="http://schemas.microsoft.com/office/powerpoint/2010/main" val="5462217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Footer Placeholder 6">
            <a:extLst xmlns:a="http://schemas.openxmlformats.org/drawingml/2006/main">
              <a:ext uri="{FF2B5EF4-FFF2-40B4-BE49-F238E27FC236}">
                <a16:creationId xmlns:a16="http://schemas.microsoft.com/office/drawing/2014/main" id="{3AC3A10F-8642-8154-9AEA-7110D289C62E}"/>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noAutofit/>
          </a:bodyPr>
          <a:lstStyle xmlns:a="http://schemas.openxmlformats.org/drawingml/2006/main"/>
          <a:p xmlns:a="http://schemas.openxmlformats.org/drawingml/2006/main">
            <a:pPr>
              <a:defRPr sz="1125">
                <a:solidFill>
                  <a:srgbClr val="111111"/>
                </a:solidFill>
                <a:latin typeface="Arial"/>
                <a:ea typeface="Arial"/>
                <a:cs typeface="Arial"/>
              </a:defRPr>
            </a:pPr>
            <a:r>
              <a:rPr sz="1125">
                <a:solidFill>
                  <a:srgbClr val="111111"/>
                </a:solidFill>
                <a:latin typeface="Arial"/>
                <a:ea typeface="Arial"/>
                <a:cs typeface="Arial"/>
              </a:rPr>
              <a:t>Decision: upper bound ≥1.2× and three scene families</a:t>
            </a:r>
            <a:endParaRPr/>
          </a:p>
        </p:txBody>
      </p:sp>
      <p:sp>
        <p:nvSpPr>
          <p:cNvPr id="4" name="Slide Number Placeholder 3">
            <a:extLst xmlns:a="http://schemas.openxmlformats.org/drawingml/2006/main">
              <a:ext uri="{FF2B5EF4-FFF2-40B4-BE49-F238E27FC236}">
                <a16:creationId xmlns:a16="http://schemas.microsoft.com/office/drawing/2014/main" id="{6BBF0163-E4B1-61D1-776D-45470B16F0F4}"/>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a:noAutofit/>
          </a:bodyPr>
          <a:lstStyle xmlns:a="http://schemas.openxmlformats.org/drawingml/2006/main"/>
          <a:p xmlns:a="http://schemas.openxmlformats.org/drawingml/2006/main">
            <a:pPr>
              <a:defRPr sz="1275">
                <a:solidFill>
                  <a:srgbClr val="111111"/>
                </a:solidFill>
                <a:latin typeface="Arial"/>
                <a:ea typeface="Arial"/>
                <a:cs typeface="Arial"/>
              </a:defRPr>
            </a:pPr>
            <a:fld id="{202359C0-8A7A-196E-DD58-8E6569619F09}" type="slidenum">
              <a:rPr sz="1275">
                <a:solidFill>
                  <a:srgbClr val="111111"/>
                </a:solidFill>
                <a:latin typeface="Arial"/>
                <a:ea typeface="Arial"/>
                <a:cs typeface="Arial"/>
              </a:rPr>
              <a:t>3</a:t>
            </a:fld>
            <a:endParaRPr/>
          </a:p>
        </p:txBody>
      </p:sp>
      <p:sp>
        <p:nvSpPr>
          <p:cNvPr id="11" name="Title 10">
            <a:extLst xmlns:a="http://schemas.openxmlformats.org/drawingml/2006/main">
              <a:ext uri="{FF2B5EF4-FFF2-40B4-BE49-F238E27FC236}">
                <a16:creationId xmlns:a16="http://schemas.microsoft.com/office/drawing/2014/main" id="{9759E2FE-9F02-E1B4-EBBC-AA8624ACC339}"/>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a:noAutofit/>
          </a:bodyPr>
          <a:lstStyle xmlns:a="http://schemas.openxmlformats.org/drawingml/2006/main"/>
          <a:p xmlns:a="http://schemas.openxmlformats.org/drawingml/2006/main">
            <a:pPr>
              <a:defRPr sz="2700">
                <a:solidFill>
                  <a:srgbClr val="111111"/>
                </a:solidFill>
                <a:latin typeface="Arial"/>
                <a:ea typeface="Arial"/>
                <a:cs typeface="Arial"/>
              </a:defRPr>
            </a:pPr>
            <a:r>
              <a:rPr sz="2700">
                <a:solidFill>
                  <a:srgbClr val="111111"/>
                </a:solidFill>
                <a:latin typeface="Arial"/>
                <a:ea typeface="Arial"/>
                <a:cs typeface="Arial"/>
              </a:rPr>
              <a:t>Can collision sets be certified across frames?</a:t>
            </a:r>
          </a:p>
        </p:txBody>
      </p:sp>
      <p:cxnSp>
        <p:nvCxnSpPr>
          <p:cNvPr id="23" name="Google Shape;2259;p159"/>
          <p:cNvCxnSpPr>
            <a:stCxn xmlns:a="http://schemas.openxmlformats.org/drawingml/2006/main" id="3" idx="2"/>
          </p:cNvCxnSpPr>
          <p:nvPr/>
        </p:nvCxnSpPr>
        <p:spPr>
          <a:xfrm xmlns:a="http://schemas.openxmlformats.org/drawingml/2006/main">
            <a:off x="337718" y="3373753"/>
            <a:ext cx="11849100" cy="300"/>
          </a:xfrm>
          <a:prstGeom xmlns:a="http://schemas.openxmlformats.org/drawingml/2006/main" prst="straightConnector1">
            <a:avLst/>
          </a:prstGeom>
          <a:ln xmlns:a="http://schemas.openxmlformats.org/drawingml/2006/main" w="9525" cap="flat">
            <a:solidFill>
              <a:schemeClr val="dk1"/>
            </a:solidFill>
            <a:prstDash val="solid"/>
            <a:round/>
            <a:headEnd type="none" w="med" len="med"/>
            <a:tailEnd type="none" w="med" len="med"/>
          </a:ln>
        </p:spPr>
      </p:cxnSp>
      <p:sp>
        <p:nvSpPr>
          <p:cNvPr id="3" name="Google Shape;2260;p159">
            <a:extLst xmlns:a="http://schemas.openxmlformats.org/drawingml/2006/main">
              <a:ext uri="{FF2B5EF4-FFF2-40B4-BE49-F238E27FC236}">
                <a16:creationId xmlns:a16="http://schemas.microsoft.com/office/drawing/2014/main" id="{39A86B1D-EA5D-3FA6-7D83-8F21D70E330E}"/>
              </a:ext>
            </a:extLst>
          </p:cNvPr>
          <p:cNvSpPr>
            <a:spLocks xmlns:a="http://schemas.openxmlformats.org/drawingml/2006/main" noGrp="1"/>
          </p:cNvSpPr>
          <p:nvPr/>
        </p:nvSpPr>
        <p:spPr>
          <a:xfrm xmlns:a="http://schemas.openxmlformats.org/drawingml/2006/main">
            <a:off x="337718" y="3320203"/>
            <a:ext cx="107100" cy="107100"/>
          </a:xfrm>
          <a:prstGeom xmlns:a="http://schemas.openxmlformats.org/drawingml/2006/main" prst="ellipse">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5" name="Google Shape;2261;p159">
            <a:extLst xmlns:a="http://schemas.openxmlformats.org/drawingml/2006/main">
              <a:ext uri="{FF2B5EF4-FFF2-40B4-BE49-F238E27FC236}">
                <a16:creationId xmlns:a16="http://schemas.microsoft.com/office/drawing/2014/main" id="{A1013DAF-A2C3-BC42-73D5-9D8AB55DCA94}"/>
              </a:ext>
            </a:extLst>
          </p:cNvPr>
          <p:cNvSpPr>
            <a:spLocks xmlns:a="http://schemas.openxmlformats.org/drawingml/2006/main" noGrp="1"/>
          </p:cNvSpPr>
          <p:nvPr/>
        </p:nvSpPr>
        <p:spPr>
          <a:xfrm xmlns:a="http://schemas.openxmlformats.org/drawingml/2006/main">
            <a:off x="4251750" y="3320203"/>
            <a:ext cx="107100" cy="107100"/>
          </a:xfrm>
          <a:prstGeom xmlns:a="http://schemas.openxmlformats.org/drawingml/2006/main" prst="ellipse">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6" name="Google Shape;2262;p159">
            <a:extLst xmlns:a="http://schemas.openxmlformats.org/drawingml/2006/main">
              <a:ext uri="{FF2B5EF4-FFF2-40B4-BE49-F238E27FC236}">
                <a16:creationId xmlns:a16="http://schemas.microsoft.com/office/drawing/2014/main" id="{4654A74A-2C40-A8C6-E9F9-43C58A3ADE20}"/>
              </a:ext>
            </a:extLst>
          </p:cNvPr>
          <p:cNvSpPr>
            <a:spLocks xmlns:a="http://schemas.openxmlformats.org/drawingml/2006/main" noGrp="1"/>
          </p:cNvSpPr>
          <p:nvPr/>
        </p:nvSpPr>
        <p:spPr>
          <a:xfrm xmlns:a="http://schemas.openxmlformats.org/drawingml/2006/main">
            <a:off x="8176050" y="3320203"/>
            <a:ext cx="107100" cy="107100"/>
          </a:xfrm>
          <a:prstGeom xmlns:a="http://schemas.openxmlformats.org/drawingml/2006/main" prst="ellipse">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9" name="Content Placeholder 15">
            <a:extLst xmlns:a="http://schemas.openxmlformats.org/drawingml/2006/main">
              <a:ext uri="{FF2B5EF4-FFF2-40B4-BE49-F238E27FC236}">
                <a16:creationId xmlns:a16="http://schemas.microsoft.com/office/drawing/2014/main" id="{76C75857-E8EA-1B37-0464-3C7048D7FBEB}"/>
              </a:ext>
            </a:extLst>
          </p:cNvPr>
          <p:cNvSpPr>
            <a:spLocks xmlns:a="http://schemas.openxmlformats.org/drawingml/2006/main" noGrp="1"/>
          </p:cNvSpPr>
          <p:nvPr/>
        </p:nvSpPr>
        <p:spPr>
          <a:xfrm xmlns:a="http://schemas.openxmlformats.org/drawingml/2006/main">
            <a:off x="393700" y="2843266"/>
            <a:ext cx="1612900" cy="2624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defRPr sz="1575">
                <a:solidFill>
                  <a:srgbClr val="111111"/>
                </a:solidFill>
                <a:latin typeface="Arial"/>
                <a:ea typeface="Arial"/>
                <a:cs typeface="Arial"/>
              </a:defRPr>
            </a:pPr>
            <a:r>
              <a:rPr sz="1575">
                <a:solidFill>
                  <a:srgbClr val="111111"/>
                </a:solidFill>
                <a:latin typeface="Arial"/>
                <a:ea typeface="Arial"/>
                <a:cs typeface="Arial"/>
              </a:rPr>
              <a:t>01  ORACLE</a:t>
            </a:r>
          </a:p>
        </p:txBody>
      </p:sp>
      <p:sp>
        <p:nvSpPr>
          <p:cNvPr id="13" name="Content Placeholder 15">
            <a:extLst xmlns:a="http://schemas.openxmlformats.org/drawingml/2006/main">
              <a:ext uri="{FF2B5EF4-FFF2-40B4-BE49-F238E27FC236}">
                <a16:creationId xmlns:a16="http://schemas.microsoft.com/office/drawing/2014/main" id="{76AEECBA-C292-6302-8A8E-7EB14A54E420}"/>
              </a:ext>
            </a:extLst>
          </p:cNvPr>
          <p:cNvSpPr>
            <a:spLocks xmlns:a="http://schemas.openxmlformats.org/drawingml/2006/main" noGrp="1"/>
          </p:cNvSpPr>
          <p:nvPr/>
        </p:nvSpPr>
        <p:spPr>
          <a:xfrm xmlns:a="http://schemas.openxmlformats.org/drawingml/2006/main">
            <a:off x="4294187" y="2843266"/>
            <a:ext cx="1612900" cy="2624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defRPr sz="1575">
                <a:solidFill>
                  <a:srgbClr val="111111"/>
                </a:solidFill>
                <a:latin typeface="Arial"/>
                <a:ea typeface="Arial"/>
                <a:cs typeface="Arial"/>
              </a:defRPr>
            </a:pPr>
            <a:r>
              <a:rPr sz="1575">
                <a:solidFill>
                  <a:srgbClr val="111111"/>
                </a:solidFill>
                <a:latin typeface="Arial"/>
                <a:ea typeface="Arial"/>
                <a:cs typeface="Arial"/>
              </a:rPr>
              <a:t>02  PROVE</a:t>
            </a:r>
          </a:p>
        </p:txBody>
      </p:sp>
      <p:sp>
        <p:nvSpPr>
          <p:cNvPr id="14" name="Content Placeholder 15">
            <a:extLst xmlns:a="http://schemas.openxmlformats.org/drawingml/2006/main">
              <a:ext uri="{FF2B5EF4-FFF2-40B4-BE49-F238E27FC236}">
                <a16:creationId xmlns:a16="http://schemas.microsoft.com/office/drawing/2014/main" id="{95982BB0-2387-9BAA-9F14-F45500C04700}"/>
              </a:ext>
            </a:extLst>
          </p:cNvPr>
          <p:cNvSpPr>
            <a:spLocks xmlns:a="http://schemas.openxmlformats.org/drawingml/2006/main" noGrp="1"/>
          </p:cNvSpPr>
          <p:nvPr/>
        </p:nvSpPr>
        <p:spPr>
          <a:xfrm xmlns:a="http://schemas.openxmlformats.org/drawingml/2006/main">
            <a:off x="8223249" y="2843266"/>
            <a:ext cx="1612900" cy="2624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defRPr sz="1575">
                <a:solidFill>
                  <a:srgbClr val="111111"/>
                </a:solidFill>
                <a:latin typeface="Arial"/>
                <a:ea typeface="Arial"/>
                <a:cs typeface="Arial"/>
              </a:defRPr>
            </a:pPr>
            <a:r>
              <a:rPr sz="1575">
                <a:solidFill>
                  <a:srgbClr val="111111"/>
                </a:solidFill>
                <a:latin typeface="Arial"/>
                <a:ea typeface="Arial"/>
                <a:cs typeface="Arial"/>
              </a:rPr>
              <a:t>03  GENERALIZE</a:t>
            </a:r>
          </a:p>
        </p:txBody>
      </p:sp>
      <p:sp>
        <p:nvSpPr>
          <p:cNvPr id="8" name="Text Placeholder 16">
            <a:extLst xmlns:a="http://schemas.openxmlformats.org/drawingml/2006/main">
              <a:ext uri="{FF2B5EF4-FFF2-40B4-BE49-F238E27FC236}">
                <a16:creationId xmlns:a16="http://schemas.microsoft.com/office/drawing/2014/main" id="{D0EE3B6B-F07C-271E-2F97-41D7686F1C33}"/>
              </a:ext>
            </a:extLst>
          </p:cNvPr>
          <p:cNvSpPr>
            <a:spLocks xmlns:a="http://schemas.openxmlformats.org/drawingml/2006/main" noGrp="1"/>
          </p:cNvSpPr>
          <p:nvPr/>
        </p:nvSpPr>
        <p:spPr>
          <a:xfrm xmlns:a="http://schemas.openxmlformats.org/drawingml/2006/main">
            <a:off x="4317118" y="3822700"/>
            <a:ext cx="3156125" cy="1586256"/>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defRPr sz="1800">
                <a:solidFill>
                  <a:srgbClr val="111111"/>
                </a:solidFill>
                <a:latin typeface="Arial"/>
                <a:ea typeface="Arial"/>
                <a:cs typeface="Arial"/>
              </a:defRPr>
            </a:pPr>
            <a:r>
              <a:rPr sz="1800">
                <a:solidFill>
                  <a:srgbClr val="111111"/>
                </a:solidFill>
                <a:latin typeface="Arial"/>
                <a:ea typeface="Arial"/>
                <a:cs typeface="Arial"/>
              </a:rPr>
              <a:t>Prove regional validity</a:t>
            </a:r>
          </a:p>
          <a:p xmlns:a="http://schemas.openxmlformats.org/drawingml/2006/main">
            <a:pPr marL="0" indent="0">
              <a:lnSpc>
                <a:spcPct val="114000"/>
              </a:lnSpc>
              <a:spcBef>
                <a:spcPts val="0"/>
              </a:spcBef>
              <a:spcAft>
                <a:spcPts val="800"/>
              </a:spcAft>
              <a:buFont typeface="Arial"/>
              <a:buNone/>
            </a:pPr>
            <a:r>
              <a:rPr sz="1600">
                <a:solidFill>
                  <a:prstClr val="black"/>
                </a:solidFill>
                <a:latin typeface="Helvetica Neue"/>
                <a:ea typeface="Helvetica Neue"/>
                <a:cs typeface="Helvetica Neue"/>
              </a:rPr>
              <a:t/>
            </a:r>
          </a:p>
          <a:p xmlns:a="http://schemas.openxmlformats.org/drawingml/2006/main">
            <a:pPr marL="0" indent="0">
              <a:lnSpc>
                <a:spcPct val="114000"/>
              </a:lnSpc>
              <a:spcBef>
                <a:spcPts val="0"/>
              </a:spcBef>
              <a:spcAft>
                <a:spcPts val="800"/>
              </a:spcAft>
              <a:buFont typeface="Arial"/>
              <a:buNone/>
              <a:defRPr sz="1800">
                <a:solidFill>
                  <a:srgbClr val="111111"/>
                </a:solidFill>
                <a:latin typeface="Arial"/>
                <a:ea typeface="Arial"/>
                <a:cs typeface="Arial"/>
              </a:defRPr>
            </a:pPr>
            <a:r>
              <a:rPr sz="1800">
                <a:solidFill>
                  <a:srgbClr val="111111"/>
                </a:solidFill>
                <a:latin typeface="Arial"/>
                <a:ea typeface="Arial"/>
                <a:cs typeface="Arial"/>
              </a:rPr>
              <a:t>Use conservative motion bounds before skipping any rediscovery.</a:t>
            </a:r>
          </a:p>
        </p:txBody>
      </p:sp>
      <p:sp>
        <p:nvSpPr>
          <p:cNvPr id="15" name="Text Placeholder 16">
            <a:extLst xmlns:a="http://schemas.openxmlformats.org/drawingml/2006/main">
              <a:ext uri="{FF2B5EF4-FFF2-40B4-BE49-F238E27FC236}">
                <a16:creationId xmlns:a16="http://schemas.microsoft.com/office/drawing/2014/main" id="{B3EA0E10-C778-6971-AFB5-9B9B52B082D5}"/>
              </a:ext>
            </a:extLst>
          </p:cNvPr>
          <p:cNvSpPr>
            <a:spLocks xmlns:a="http://schemas.openxmlformats.org/drawingml/2006/main" noGrp="1"/>
          </p:cNvSpPr>
          <p:nvPr/>
        </p:nvSpPr>
        <p:spPr>
          <a:xfrm xmlns:a="http://schemas.openxmlformats.org/drawingml/2006/main">
            <a:off x="399873" y="3822700"/>
            <a:ext cx="3156125" cy="1586256"/>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defRPr sz="1800">
                <a:solidFill>
                  <a:srgbClr val="111111"/>
                </a:solidFill>
                <a:latin typeface="Arial"/>
                <a:ea typeface="Arial"/>
                <a:cs typeface="Arial"/>
              </a:defRPr>
            </a:pPr>
            <a:r>
              <a:rPr sz="1800">
                <a:solidFill>
                  <a:srgbClr val="111111"/>
                </a:solidFill>
                <a:latin typeface="Arial"/>
                <a:ea typeface="Arial"/>
                <a:cs typeface="Arial"/>
              </a:rPr>
              <a:t>Replay baseline pairs</a:t>
            </a:r>
          </a:p>
          <a:p xmlns:a="http://schemas.openxmlformats.org/drawingml/2006/main">
            <a:pPr marL="0" indent="0">
              <a:lnSpc>
                <a:spcPct val="114000"/>
              </a:lnSpc>
              <a:spcBef>
                <a:spcPts val="0"/>
              </a:spcBef>
              <a:spcAft>
                <a:spcPts val="800"/>
              </a:spcAft>
              <a:buFont typeface="Arial"/>
              <a:buNone/>
            </a:pPr>
            <a:r>
              <a:rPr sz="1600">
                <a:solidFill>
                  <a:prstClr val="black"/>
                </a:solidFill>
                <a:latin typeface="Helvetica Neue"/>
                <a:ea typeface="Helvetica Neue"/>
                <a:cs typeface="Helvetica Neue"/>
              </a:rPr>
              <a:t/>
            </a:r>
          </a:p>
          <a:p xmlns:a="http://schemas.openxmlformats.org/drawingml/2006/main">
            <a:pPr marL="0" indent="0">
              <a:lnSpc>
                <a:spcPct val="114000"/>
              </a:lnSpc>
              <a:spcBef>
                <a:spcPts val="0"/>
              </a:spcBef>
              <a:spcAft>
                <a:spcPts val="800"/>
              </a:spcAft>
              <a:buFont typeface="Arial"/>
              <a:buNone/>
              <a:defRPr sz="1800">
                <a:solidFill>
                  <a:srgbClr val="111111"/>
                </a:solidFill>
                <a:latin typeface="Arial"/>
                <a:ea typeface="Arial"/>
                <a:cs typeface="Arial"/>
              </a:defRPr>
            </a:pPr>
            <a:r>
              <a:rPr sz="1800">
                <a:solidFill>
                  <a:srgbClr val="111111"/>
                </a:solidFill>
                <a:latin typeface="Arial"/>
                <a:ea typeface="Arial"/>
                <a:cs typeface="Arial"/>
              </a:rPr>
              <a:t>Measure avoidable DCD work without changing the simulated trajectory.</a:t>
            </a:r>
          </a:p>
        </p:txBody>
      </p:sp>
      <p:sp>
        <p:nvSpPr>
          <p:cNvPr id="19" name="Text Placeholder 16">
            <a:extLst xmlns:a="http://schemas.openxmlformats.org/drawingml/2006/main">
              <a:ext uri="{FF2B5EF4-FFF2-40B4-BE49-F238E27FC236}">
                <a16:creationId xmlns:a16="http://schemas.microsoft.com/office/drawing/2014/main" id="{5A9F39A9-7A23-0F85-F761-1AB9FA6B8FDE}"/>
              </a:ext>
            </a:extLst>
          </p:cNvPr>
          <p:cNvSpPr>
            <a:spLocks xmlns:a="http://schemas.openxmlformats.org/drawingml/2006/main" noGrp="1"/>
          </p:cNvSpPr>
          <p:nvPr/>
        </p:nvSpPr>
        <p:spPr>
          <a:xfrm xmlns:a="http://schemas.openxmlformats.org/drawingml/2006/main">
            <a:off x="8177917" y="3822700"/>
            <a:ext cx="3156125" cy="1586256"/>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defRPr sz="1800">
                <a:solidFill>
                  <a:srgbClr val="111111"/>
                </a:solidFill>
                <a:latin typeface="Arial"/>
                <a:ea typeface="Arial"/>
                <a:cs typeface="Arial"/>
              </a:defRPr>
            </a:pPr>
            <a:r>
              <a:rPr sz="1800">
                <a:solidFill>
                  <a:srgbClr val="111111"/>
                </a:solidFill>
                <a:latin typeface="Arial"/>
                <a:ea typeface="Arial"/>
                <a:cs typeface="Arial"/>
              </a:rPr>
              <a:t>Test hard scenes</a:t>
            </a:r>
          </a:p>
          <a:p xmlns:a="http://schemas.openxmlformats.org/drawingml/2006/main">
            <a:pPr marL="0" indent="0">
              <a:lnSpc>
                <a:spcPct val="114000"/>
              </a:lnSpc>
              <a:spcBef>
                <a:spcPts val="0"/>
              </a:spcBef>
              <a:spcAft>
                <a:spcPts val="800"/>
              </a:spcAft>
              <a:buFont typeface="Arial"/>
              <a:buNone/>
            </a:pPr>
            <a:r>
              <a:rPr sz="1600">
                <a:solidFill>
                  <a:prstClr val="black"/>
                </a:solidFill>
                <a:latin typeface="Helvetica Neue"/>
                <a:ea typeface="Helvetica Neue"/>
                <a:cs typeface="Helvetica Neue"/>
              </a:rPr>
              <a:t/>
            </a:r>
          </a:p>
          <a:p xmlns:a="http://schemas.openxmlformats.org/drawingml/2006/main">
            <a:pPr marL="0" indent="0">
              <a:lnSpc>
                <a:spcPct val="114000"/>
              </a:lnSpc>
              <a:spcBef>
                <a:spcPts val="0"/>
              </a:spcBef>
              <a:spcAft>
                <a:spcPts val="800"/>
              </a:spcAft>
              <a:buFont typeface="Arial"/>
              <a:buNone/>
              <a:defRPr sz="1800">
                <a:solidFill>
                  <a:srgbClr val="111111"/>
                </a:solidFill>
                <a:latin typeface="Arial"/>
                <a:ea typeface="Arial"/>
                <a:cs typeface="Arial"/>
              </a:defRPr>
            </a:pPr>
            <a:r>
              <a:rPr sz="1800">
                <a:solidFill>
                  <a:srgbClr val="111111"/>
                </a:solidFill>
                <a:latin typeface="Arial"/>
                <a:ea typeface="Arial"/>
                <a:cs typeface="Arial"/>
              </a:rPr>
              <a:t>Twisting, sliding and dense self-contact; keep the same correctness checks.</a:t>
            </a:r>
          </a:p>
        </p:txBody>
      </p:sp>
    </p:spTree>
    <p:extLst>
      <p:ext uri="{BB962C8B-B14F-4D97-AF65-F5344CB8AC3E}">
        <p14:creationId xmlns:p14="http://schemas.microsoft.com/office/powerpoint/2010/main" val="3446338916"/>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2026-09-16T11:29:39.1110000Z</dcterms:created>
  <dcterms:modified xsi:type="dcterms:W3CDTF">2026-09-16T11:29:39.1110000Z</dcterms:modified>
</coreProperties>
</file>